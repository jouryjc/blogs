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7" r:id="rId3"/>
    <p:sldId id="269" r:id="rId5"/>
    <p:sldId id="278" r:id="rId6"/>
    <p:sldId id="279" r:id="rId7"/>
    <p:sldId id="280" r:id="rId8"/>
    <p:sldId id="287" r:id="rId9"/>
    <p:sldId id="268" r:id="rId10"/>
    <p:sldId id="270" r:id="rId11"/>
    <p:sldId id="271" r:id="rId12"/>
    <p:sldId id="281" r:id="rId13"/>
    <p:sldId id="288" r:id="rId14"/>
    <p:sldId id="292" r:id="rId15"/>
    <p:sldId id="293" r:id="rId16"/>
    <p:sldId id="294" r:id="rId17"/>
    <p:sldId id="295" r:id="rId18"/>
    <p:sldId id="290" r:id="rId19"/>
    <p:sldId id="297" r:id="rId20"/>
    <p:sldId id="291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ac3e7d7-439a-450d-9c0a-37dda1517a80}">
          <p14:sldIdLst>
            <p14:sldId id="267"/>
            <p14:sldId id="269"/>
            <p14:sldId id="278"/>
            <p14:sldId id="279"/>
            <p14:sldId id="280"/>
            <p14:sldId id="287"/>
            <p14:sldId id="268"/>
            <p14:sldId id="270"/>
            <p14:sldId id="271"/>
            <p14:sldId id="281"/>
          </p14:sldIdLst>
        </p14:section>
        <p14:section name="知识库问题研讨" id="{ab14b185-d0a0-40d4-8e7b-755903772cef}">
          <p14:sldIdLst>
            <p14:sldId id="288"/>
            <p14:sldId id="292"/>
            <p14:sldId id="293"/>
            <p14:sldId id="294"/>
            <p14:sldId id="295"/>
            <p14:sldId id="290"/>
            <p14:sldId id="297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alano, Alec" initials="" lastIdx="0" clrIdx="0"/>
  <p:cmAuthor id="2" name="姚琳" initials="姚" lastIdx="0" clrIdx="1"/>
  <p:cmAuthor id="3" name="Sangfor" initials="S" lastIdx="0" clrIdx="2"/>
  <p:cmAuthor id="4" name="chen" initials="c" lastIdx="0" clrIdx="3"/>
  <p:cmAuthor id="5" name="wangpq" initials="w" lastIdx="0" clrIdx="4"/>
  <p:cmAuthor id="6" name="王 成岩" initials="王" lastIdx="0" clrIdx="5"/>
  <p:cmAuthor id="7" name="Administrator" initials="A" lastIdx="0" clrIdx="6"/>
  <p:cmAuthor id="8" name="Icey Z" initials="IZ" lastIdx="0" clrIdx="7"/>
  <p:cmAuthor id="9" name="l09481" initials="l" lastIdx="0" clrIdx="8"/>
  <p:cmAuthor id="10" name="cue dafen" initials="cd" lastIdx="0" clrIdx="9"/>
  <p:cmAuthor id="11" name="Chris Kou" initials="C" lastIdx="0" clrIdx="10"/>
  <p:cmAuthor id="12" name="chenyang" initials="c" lastIdx="0" clrIdx="11"/>
  <p:cmAuthor id="13" name="林夕" initials="林夕" lastIdx="0" clrIdx="12"/>
  <p:cmAuthor id="14" name="AndyLee" initials="A" lastIdx="0" clrIdx="13"/>
  <p:cmAuthor id="15" name="丁大鹏" initials="ddp" lastIdx="0" clrIdx="14"/>
  <p:cmAuthor id="16" name="樊佳佳" initials="樊" lastIdx="0" clrIdx="15"/>
  <p:cmAuthor id="17" name="未知用户1" initials="未知用户1" lastIdx="0" clrIdx="16"/>
  <p:cmAuthor id="18" name="未知用户2" initials="未知用户2" lastIdx="0" clrIdx="17"/>
  <p:cmAuthor id="19" name="云峰 贾" initials="云" lastIdx="0" clrIdx="18"/>
  <p:cmAuthor id="20" name="杨尚阳" initials="杨" lastIdx="0" clrIdx="19"/>
  <p:cmAuthor id="21" name="吕品" initials="吕品" lastIdx="0" clrIdx="20"/>
  <p:cmAuthor id="22" name="未知用户5" initials="未知用户5" lastIdx="0" clrIdx="21"/>
  <p:cmAuthor id="23" name="杨彦伟" initials="杨" lastIdx="0" clrIdx="22"/>
  <p:cmAuthor id="24" name="未知用户3" initials="未知用户3" lastIdx="0" clrIdx="23"/>
  <p:cmAuthor id="25" name="Azfar Mir" initials="A" lastIdx="0" clrIdx="24"/>
  <p:cmAuthor id="26" name="未知用户4" initials="未知用户4" lastIdx="0" clrIdx="25"/>
  <p:cmAuthor id="27" name="张金玉" initials="张" lastIdx="0" clrIdx="26"/>
  <p:cmAuthor id="28" name="未知用户6" initials="未知用户6" lastIdx="0" clrIdx="27"/>
  <p:cmAuthor id="29" name="周平" initials="周" lastIdx="0" clrIdx="28"/>
  <p:cmAuthor id="30" name="吕 美军" initials="吕" lastIdx="0" clrIdx="29"/>
  <p:cmAuthor id="31" name="董 人美" initials="董" lastIdx="0" clrIdx="30"/>
  <p:cmAuthor id="32" name="Windows 用户" initials="W用" lastIdx="0" clrIdx="31"/>
  <p:cmAuthor id="33" name="顾 Filizia" initials="顾" lastIdx="0" clrIdx="32"/>
  <p:cmAuthor id="34" name="Jie" initials="J" lastIdx="0" clrIdx="33"/>
  <p:cmAuthor id="35" name="SXF-Admin" initials="S" lastIdx="0" clrIdx="34"/>
  <p:cmAuthor id="36" name="蔡建楠" initials="caijianna" lastIdx="0" clrIdx="35"/>
  <p:cmAuthor id="37" name="Kwok Johnny" initials="" lastIdx="0" clrIdx="36"/>
  <p:cmAuthor id="38" name="李蕾00009994" initials="李" lastIdx="0" clrIdx="37"/>
  <p:cmAuthor id="39" name="wyz" initials="w" lastIdx="0" clrIdx="38"/>
  <p:cmAuthor id="40" name="10270945" initials="1" lastIdx="0" clrIdx="39"/>
  <p:cmAuthor id="41" name="杨艳霞" initials="杨" lastIdx="0" clrIdx="40"/>
  <p:cmAuthor id="42" name="Hou Yingfeng" initials="H" lastIdx="0" clrIdx="41"/>
  <p:cmAuthor id="43" name="吴军" initials="吴" lastIdx="0" clrIdx="42"/>
  <p:cmAuthor id="44" name="sangfor" initials="s" lastIdx="0" clrIdx="43"/>
  <p:cmAuthor id="45" name="Author" initials="A" lastIdx="0" clrIdx="44"/>
  <p:cmAuthor id="46" name="李楠10047711" initials="李楠10047711" lastIdx="0" clrIdx="45"/>
  <p:cmAuthor id="47" name="610007" initials="6" lastIdx="0" clrIdx="46"/>
  <p:cmAuthor id="48" name="Zhang Mr" initials="ZM" lastIdx="0" clrIdx="47"/>
  <p:cmAuthor id="49" name="XUWEI" initials="X" lastIdx="0" clrIdx="48"/>
  <p:cmAuthor id="50" name="俊贤" initials="俊贤" lastIdx="0" clrIdx="49"/>
  <p:cmAuthor id="51" name="Hu. Jimmy" initials="HJ" lastIdx="0" clrIdx="50"/>
  <p:cmAuthor id="52" name="hzq" initials="h" lastIdx="0" clrIdx="51"/>
  <p:cmAuthor id="53" name="范作霖" initials="范" lastIdx="0" clrIdx="52"/>
  <p:cmAuthor id="54" name="jialuo" initials="j" lastIdx="0" clrIdx="53"/>
  <p:cmAuthor id="55" name="张立鑫" initials="张" lastIdx="0" clrIdx="54"/>
  <p:cmAuthor id="56" name="吴铭锐" initials="吴" lastIdx="0" clrIdx="55"/>
  <p:cmAuthor id="57" name="未知用户77" initials="未知用户77" lastIdx="0" clrIdx="56"/>
  <p:cmAuthor id="58" name="YuQing" initials="Y" lastIdx="0" clrIdx="57"/>
  <p:cmAuthor id="59" name="Youwen Sun" initials="Y" lastIdx="0" clrIdx="58"/>
  <p:cmAuthor id="60" name="番茄花园" initials="番" lastIdx="0" clrIdx="59"/>
  <p:cmAuthor id="61" name="meng_" initials="m" lastIdx="0" clrIdx="60"/>
  <p:cmAuthor id="62" name="未知" initials="未" lastIdx="0" clrIdx="61"/>
  <p:cmAuthor id="63" name="周满红" initials="周" lastIdx="0" clrIdx="62"/>
  <p:cmAuthor id="64" name="taojiang" initials="t" lastIdx="0" clrIdx="63"/>
  <p:cmAuthor id="65" name="未知用户8" initials="未" lastIdx="0" clrIdx="64"/>
  <p:cmAuthor id="66" name="未知用户9" initials="未" lastIdx="0" clrIdx="65"/>
  <p:cmAuthor id="67" name="未知用户10" initials="未" lastIdx="0" clrIdx="66"/>
  <p:cmAuthor id="68" name="未知用户11" initials="未" lastIdx="0" clrIdx="67"/>
  <p:cmAuthor id="69" name="未知用户20" initials="未" lastIdx="0" clrIdx="68"/>
  <p:cmAuthor id="70" name="未知用户19" initials="未" lastIdx="0" clrIdx="69"/>
  <p:cmAuthor id="71" name="未知用户21" initials="未" lastIdx="0" clrIdx="70"/>
  <p:cmAuthor id="72" name="未知用户14" initials="未" lastIdx="0" clrIdx="71"/>
  <p:cmAuthor id="73" name="未知用户15" initials="未" lastIdx="0" clrIdx="72"/>
  <p:cmAuthor id="74" name="未知用户16" initials="未" lastIdx="0" clrIdx="73"/>
  <p:cmAuthor id="75" name="郝崇" initials="郝" lastIdx="0" clrIdx="74"/>
  <p:cmAuthor id="76" name="吴杰" initials="吴" lastIdx="0" clrIdx="75"/>
  <p:cmAuthor id="77" name="刘丽仙" initials="刘" lastIdx="0" clrIdx="76"/>
  <p:cmAuthor id="78" name="陶川" initials="陶" lastIdx="0" clrIdx="77"/>
  <p:cmAuthor id="79" name="未知用户44" initials="未知用户44" lastIdx="0" clrIdx="78"/>
  <p:cmAuthor id="80" name="andres.x.gomez" initials="a" lastIdx="0" clrIdx="79"/>
  <p:cmAuthor id="81" name="user" initials="u" lastIdx="0" clrIdx="80"/>
  <p:cmAuthor id="82" name="未知用户45" initials="未知用户45" lastIdx="0" clrIdx="81"/>
  <p:cmAuthor id="83" name="贾清山" initials="贾" lastIdx="0" clrIdx="82"/>
  <p:cmAuthor id="84" name="丁芙蓉" initials="丁" lastIdx="0" clrIdx="83"/>
  <p:cmAuthor id="85" name="gtmc" initials="g" lastIdx="0" clrIdx="84"/>
  <p:cmAuthor id="86" name="王小忠" initials="王" lastIdx="0" clrIdx="85"/>
  <p:cmAuthor id="87" name="未知用户7" initials="未" lastIdx="0" clrIdx="86"/>
  <p:cmAuthor id="88" name="张 彬" initials="张" lastIdx="0" clrIdx="87"/>
  <p:cmAuthor id="89" name="作者" initials="A" lastIdx="0" clrIdx="88"/>
  <p:cmAuthor id="90" name="叶 锦龙" initials="叶" lastIdx="0" clrIdx="89"/>
  <p:cmAuthor id="91" name="未知用户27" initials="未" lastIdx="0" clrIdx="90"/>
  <p:cmAuthor id="92" name="未知用户28" initials="未" lastIdx="0" clrIdx="91"/>
  <p:cmAuthor id="93" name="未知用户29" initials="未" lastIdx="0" clrIdx="92"/>
  <p:cmAuthor id="94" name="未知用户30" initials="未" lastIdx="0" clrIdx="93"/>
  <p:cmAuthor id="95" name="yangkun" initials="y" lastIdx="0" clrIdx="94"/>
  <p:cmAuthor id="96" name="Lenovo User" initials="L" lastIdx="0" clrIdx="95"/>
  <p:cmAuthor id="97" name="hys2" initials="h" lastIdx="0" clrIdx="96"/>
  <p:cmAuthor id="98" name="朱绍春" initials="朱" lastIdx="0" clrIdx="97"/>
  <p:cmAuthor id="99" name="邹洋" initials="邹" lastIdx="0" clrIdx="98"/>
  <p:cmAuthor id="100" name="孟祥超" initials="孟" lastIdx="0" clrIdx="99"/>
  <p:cmAuthor id="101" name="贡鑫" initials="贡" lastIdx="0" clrIdx="100"/>
  <p:cmAuthor id="102" name="administrator1" initials="a" lastIdx="0" clrIdx="101"/>
  <p:cmAuthor id="103" name="杜雪梅" initials="杜" lastIdx="0" clrIdx="102"/>
  <p:cmAuthor id="104" name="仝德志" initials="仝" lastIdx="0" clrIdx="103"/>
  <p:cmAuthor id="105" name="马静" initials="马" lastIdx="0" clrIdx="104"/>
  <p:cmAuthor id="106" name="Qingyunli" initials="Q" lastIdx="0" clrIdx="105"/>
  <p:cmAuthor id="107" name="dell" initials="d" lastIdx="0" clrIdx="106"/>
  <p:cmAuthor id="108" name="叶得会" initials="叶" lastIdx="0" clrIdx="107"/>
  <p:cmAuthor id="109" name="未知用户17" initials="未" lastIdx="0" clrIdx="108"/>
  <p:cmAuthor id="110" name="未知用户18" initials="未" lastIdx="0" clrIdx="109"/>
  <p:cmAuthor id="111" name="liying" initials="l" lastIdx="0" clrIdx="110"/>
  <p:cmAuthor id="112" name="马海燕" initials="马" lastIdx="0" clrIdx="111"/>
  <p:cmAuthor id="113" name="张钦" initials="张" lastIdx="0" clrIdx="112"/>
  <p:cmAuthor id="114" name="桓蕾" initials="桓" lastIdx="0" clrIdx="113"/>
  <p:cmAuthor id="115" name="lenovo" initials="l" lastIdx="0" clrIdx="114"/>
  <p:cmAuthor id="116" name="鲍华明" initials="鲍" lastIdx="0" clrIdx="115"/>
  <p:cmAuthor id="117" name="刘广艳" initials="刘" lastIdx="0" clrIdx="116"/>
  <p:cmAuthor id="118" name="邹积逊" initials="邹" lastIdx="0" clrIdx="117"/>
  <p:cmAuthor id="119" name="yangyanxia" initials="y" lastIdx="0" clrIdx="118"/>
  <p:cmAuthor id="120" name="刘春辉" initials="刘" lastIdx="0" clrIdx="119"/>
  <p:cmAuthor id="121" name="赵兰玉" initials="赵" lastIdx="0" clrIdx="120"/>
  <p:cmAuthor id="122" name="杜娇龙" initials="杜" lastIdx="0" clrIdx="121"/>
  <p:cmAuthor id="123" name="libin1204@163.com" initials="l" lastIdx="0" clrIdx="122"/>
  <p:cmAuthor id="124" name="未知用户67" initials="未知用户67" lastIdx="0" clrIdx="123"/>
  <p:cmAuthor id="125" name="未知用户73" initials="未" lastIdx="0" clrIdx="124"/>
  <p:cmAuthor id="126" name="魏永生" initials="魏" lastIdx="0" clrIdx="125"/>
  <p:cmAuthor id="127" name="未知用户69" initials="未知用户69" lastIdx="0" clrIdx="126"/>
  <p:cmAuthor id="128" name="未知用户70" initials="未知用户70" lastIdx="0" clrIdx="127"/>
  <p:cmAuthor id="129" name="许弘扬" initials="许" lastIdx="0" clrIdx="128"/>
  <p:cmAuthor id="130" name="新萝卜家园" initials="新" lastIdx="0" clrIdx="129"/>
  <p:cmAuthor id="131" name="未知用户71" initials="未知用户71" lastIdx="0" clrIdx="130"/>
  <p:cmAuthor id="132" name="未知用户80" initials="未" lastIdx="0" clrIdx="131"/>
  <p:cmAuthor id="133" name="未知用户81" initials="未" lastIdx="0" clrIdx="132"/>
  <p:cmAuthor id="134" name="未知用户82" initials="未" lastIdx="0" clrIdx="133"/>
  <p:cmAuthor id="135" name="未知用户83" initials="未" lastIdx="0" clrIdx="134"/>
  <p:cmAuthor id="136" name="未知用户84" initials="未" lastIdx="0" clrIdx="135"/>
  <p:cmAuthor id="137" name="未知用户31" initials="未" lastIdx="0" clrIdx="136"/>
  <p:cmAuthor id="138" name="未知用户62" initials="未" lastIdx="0" clrIdx="137"/>
  <p:cmAuthor id="139" name="Lzy" initials="L" lastIdx="0" clrIdx="138"/>
  <p:cmAuthor id="140" name="陈尚文" initials="陈" lastIdx="0" clrIdx="139"/>
  <p:cmAuthor id="141" name="邢志林" initials="邢" lastIdx="0" clrIdx="140"/>
  <p:cmAuthor id="142" name="张 开阔" initials="张" lastIdx="0" clrIdx="141"/>
  <p:cmAuthor id="143" name="原鹏" initials="y" lastIdx="0" clrIdx="142"/>
  <p:cmAuthor id="144" name="shwyq2008@163.com" initials="s" lastIdx="0" clrIdx="143"/>
  <p:cmAuthor id="145" name="User" initials="U" lastIdx="0" clrIdx="144"/>
  <p:cmAuthor id="146" name="毕军(0212009)" initials="毕" lastIdx="0" clrIdx="145"/>
  <p:cmAuthor id="147" name="dadi" initials="d" lastIdx="0" clrIdx="146"/>
  <p:cmAuthor id="148" name="未知用户43" initials="未" lastIdx="0" clrIdx="147"/>
  <p:cmAuthor id="149" name="未知用户46" initials="未" lastIdx="0" clrIdx="148"/>
  <p:cmAuthor id="150" name="未知用户47" initials="未" lastIdx="0" clrIdx="149"/>
  <p:cmAuthor id="151" name="未知用户48" initials="未" lastIdx="0" clrIdx="150"/>
  <p:cmAuthor id="152" name="未知用户49" initials="未" lastIdx="0" clrIdx="151"/>
  <p:cmAuthor id="153" name="未知用户50" initials="未" lastIdx="0" clrIdx="152"/>
  <p:cmAuthor id="154" name="未知用户133" initials="未" lastIdx="0" clrIdx="153"/>
  <p:cmAuthor id="155" name="未知用户134" initials="未" lastIdx="0" clrIdx="154"/>
  <p:cmAuthor id="156" name="曾蓓/贝贝" initials="曾" lastIdx="0" clrIdx="155"/>
  <p:cmAuthor id="157" name="未知用户135" initials="未" lastIdx="0" clrIdx="156"/>
  <p:cmAuthor id="158" name="未知用户54" initials="未" lastIdx="0" clrIdx="157"/>
  <p:cmAuthor id="159" name="未知用户55" initials="未" lastIdx="0" clrIdx="158"/>
  <p:cmAuthor id="160" name="未知用户56" initials="未" lastIdx="0" clrIdx="159"/>
  <p:cmAuthor id="161" name="未知用户57" initials="未" lastIdx="0" clrIdx="160"/>
  <p:cmAuthor id="162" name="未知用户58" initials="未" lastIdx="0" clrIdx="161"/>
  <p:cmAuthor id="163" name="未知用户136" initials="未" lastIdx="0" clrIdx="162"/>
  <p:cmAuthor id="164" name="未知用户137" initials="未" lastIdx="0" clrIdx="163"/>
  <p:cmAuthor id="165" name="未知用户146" initials="未" lastIdx="0" clrIdx="164"/>
  <p:cmAuthor id="166" name="未知用户138" initials="未" lastIdx="0" clrIdx="165"/>
  <p:cmAuthor id="167" name="未知用户139" initials="未" lastIdx="0" clrIdx="166"/>
  <p:cmAuthor id="168" name="未知用户140" initials="未" lastIdx="0" clrIdx="167"/>
  <p:cmAuthor id="169" name="施普希（菜菜）" initials="施" lastIdx="0" clrIdx="168"/>
  <p:cmAuthor id="170" name="未知用户141" initials="未" lastIdx="0" clrIdx="169"/>
  <p:cmAuthor id="171" name="AGK" initials="AGK" lastIdx="0" clrIdx="170"/>
  <p:cmAuthor id="172" name="未知用户142" initials="未" lastIdx="0" clrIdx="171"/>
  <p:cmAuthor id="173" name="未知用户143" initials="未" lastIdx="0" clrIdx="172"/>
  <p:cmAuthor id="174" name="zhang" initials="z" lastIdx="0" clrIdx="173"/>
  <p:cmAuthor id="175" name="未知用户144" initials="未" lastIdx="0" clrIdx="174"/>
  <p:cmAuthor id="176" name="王志刚" initials="王" lastIdx="0" clrIdx="175"/>
  <p:cmAuthor id="177" name="徐光宇" initials="徐" lastIdx="0" clrIdx="176"/>
  <p:cmAuthor id="178" name="mac" initials="m" lastIdx="0" clrIdx="177"/>
  <p:cmAuthor id="179" name="Liu, Leo (MBSHR cs)" initials="L" lastIdx="0" clrIdx="178"/>
  <p:cmAuthor id="180" name="刘豹" initials="刘" lastIdx="0" clrIdx="179"/>
  <p:cmAuthor id="181" name="张艳芳" initials="张" lastIdx="0" clrIdx="180"/>
  <p:cmAuthor id="182" name="志斌 杜" initials="志" lastIdx="0" clrIdx="181"/>
  <p:cmAuthor id="183" name="未知用户88" initials="未" lastIdx="0" clrIdx="182"/>
  <p:cmAuthor id="184" name="未知用户89" initials="未" lastIdx="0" clrIdx="183"/>
  <p:cmAuthor id="185" name="未知用户90" initials="未" lastIdx="0" clrIdx="184"/>
  <p:cmAuthor id="186" name="未知用户91" initials="未" lastIdx="0" clrIdx="185"/>
  <p:cmAuthor id="187" name="未知用户92" initials="未" lastIdx="0" clrIdx="186"/>
  <p:cmAuthor id="188" name="未知用户93" initials="未" lastIdx="0" clrIdx="187"/>
  <p:cmAuthor id="189" name="未知用户94" initials="未" lastIdx="0" clrIdx="188"/>
  <p:cmAuthor id="190" name="未知用户95" initials="未" lastIdx="0" clrIdx="189"/>
  <p:cmAuthor id="191" name="未知用户96" initials="未" lastIdx="0" clrIdx="190"/>
  <p:cmAuthor id="192" name="未知用户97" initials="未" lastIdx="0" clrIdx="191"/>
  <p:cmAuthor id="193" name="未知用户98" initials="未" lastIdx="0" clrIdx="192"/>
  <p:cmAuthor id="194" name="未知用户99" initials="未" lastIdx="0" clrIdx="193"/>
  <p:cmAuthor id="195" name="未知用户100" initials="未" lastIdx="0" clrIdx="194"/>
  <p:cmAuthor id="196" name="未知用户101" initials="未" lastIdx="0" clrIdx="195"/>
  <p:cmAuthor id="197" name="未知用户72" initials="未" lastIdx="0" clrIdx="196"/>
  <p:cmAuthor id="198" name="未知用户74" initials="未" lastIdx="0" clrIdx="197"/>
  <p:cmAuthor id="199" name="未知用户75" initials="未" lastIdx="0" clrIdx="198"/>
  <p:cmAuthor id="200" name="未知用户76" initials="未" lastIdx="0" clrIdx="199"/>
  <p:cmAuthor id="201" name="未知用户78" initials="未" lastIdx="0" clrIdx="200"/>
  <p:cmAuthor id="202" name="未知用户79" initials="未" lastIdx="0" clrIdx="201"/>
  <p:cmAuthor id="203" name="谢学斌" initials="谢" lastIdx="0" clrIdx="202"/>
  <p:cmAuthor id="204" name="未知用户12" initials="未知用户12" lastIdx="0" clrIdx="203"/>
  <p:cmAuthor id="205" name="未知用户85" initials="未" lastIdx="0" clrIdx="204"/>
  <p:cmAuthor id="206" name="未知用户86" initials="未" lastIdx="0" clrIdx="205"/>
  <p:cmAuthor id="207" name="李刚" initials="李" lastIdx="0" clrIdx="206"/>
  <p:cmAuthor id="208" name="侯 林" initials="侯" lastIdx="0" clrIdx="207"/>
  <p:cmAuthor id="209" name="徐仕超" initials="徐" lastIdx="0" clrIdx="208"/>
  <p:cmAuthor id="210" name="Pei" initials="P" lastIdx="0" clrIdx="209"/>
  <p:cmAuthor id="211" name="Ying Li" initials="Y" lastIdx="0" clrIdx="210"/>
  <p:cmAuthor id="212" name="lou cynthia" initials="l" lastIdx="0" clrIdx="211"/>
  <p:cmAuthor id="213" name="Teresa" initials="authorId_31822446" lastIdx="0" clrIdx="212"/>
  <p:cmAuthor id="214" name="马红" initials="马" lastIdx="0" clrIdx="213"/>
  <p:cmAuthor id="215" name="骆倩怡_Znauj26B" initials="authorId_382814100" lastIdx="0" clrIdx="214"/>
  <p:cmAuthor id="216" name="Shi Xiao" initials="SX" lastIdx="0" clrIdx="215"/>
  <p:cmAuthor id="217" name="demolong wang" initials="dw" lastIdx="0" clrIdx="216"/>
  <p:cmAuthor id="218" name="卢 米薇" initials="卢" lastIdx="0" clrIdx="217"/>
  <p:cmAuthor id="219" name="LJ" initials="L" lastIdx="0" clrIdx="218"/>
  <p:cmAuthor id="220" name="Microsoft Office User" initials="MOU" lastIdx="0" clrIdx="219"/>
  <p:cmAuthor id="221" name="farid nurjamil" initials="fn" lastIdx="0" clrIdx="220"/>
  <p:cmAuthor id="222" name="kingsoft" initials="k" lastIdx="0" clrIdx="221"/>
  <p:cmAuthor id="223" name="曾林远" initials="authorId_556166771" lastIdx="0" clrIdx="22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5"/>
        <p:guide pos="38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14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所以对应我们的演进计划是</a:t>
            </a:r>
            <a:br>
              <a:rPr lang="zh-CN" altLang="en-US"/>
            </a:br>
            <a:r>
              <a:rPr lang="zh-CN" altLang="en-US"/>
              <a:t>各个特性团队尽可能在自己特性领域上应用工程化经验，如代码重构，原型验证，性能优化等。</a:t>
            </a:r>
            <a:br>
              <a:rPr lang="zh-CN" altLang="en-US"/>
            </a:br>
            <a:r>
              <a:rPr lang="en-US" altLang="zh-CN"/>
              <a:t>AI</a:t>
            </a:r>
            <a:r>
              <a:rPr lang="zh-CN" altLang="en-US"/>
              <a:t>试点团队更加着重</a:t>
            </a:r>
            <a:r>
              <a:rPr lang="en-US" altLang="zh-CN"/>
              <a:t>AI</a:t>
            </a:r>
            <a:r>
              <a:rPr lang="zh-CN" altLang="en-US"/>
              <a:t>工程化建设，如知识，角色，两方互补最终达成全部特性均使用</a:t>
            </a:r>
            <a:r>
              <a:rPr lang="en-US" altLang="zh-CN"/>
              <a:t>AI native</a:t>
            </a:r>
            <a:r>
              <a:rPr lang="zh-CN" altLang="en-US"/>
              <a:t>进行推进的目的。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3" Type="http://schemas.openxmlformats.org/officeDocument/2006/relationships/notesSlide" Target="../notesSlides/notesSlide8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104.xml"/><Relationship Id="rId40" Type="http://schemas.openxmlformats.org/officeDocument/2006/relationships/image" Target="../media/image38.png"/><Relationship Id="rId4" Type="http://schemas.openxmlformats.org/officeDocument/2006/relationships/tags" Target="../tags/tag79.xml"/><Relationship Id="rId39" Type="http://schemas.openxmlformats.org/officeDocument/2006/relationships/image" Target="../media/image37.png"/><Relationship Id="rId38" Type="http://schemas.openxmlformats.org/officeDocument/2006/relationships/tags" Target="../tags/tag103.xml"/><Relationship Id="rId37" Type="http://schemas.openxmlformats.org/officeDocument/2006/relationships/image" Target="../media/image36.svg"/><Relationship Id="rId36" Type="http://schemas.openxmlformats.org/officeDocument/2006/relationships/image" Target="../media/image35.png"/><Relationship Id="rId35" Type="http://schemas.openxmlformats.org/officeDocument/2006/relationships/tags" Target="../tags/tag102.xml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tags" Target="../tags/tag101.xml"/><Relationship Id="rId31" Type="http://schemas.openxmlformats.org/officeDocument/2006/relationships/image" Target="../media/image32.svg"/><Relationship Id="rId30" Type="http://schemas.openxmlformats.org/officeDocument/2006/relationships/image" Target="../media/image31.png"/><Relationship Id="rId3" Type="http://schemas.openxmlformats.org/officeDocument/2006/relationships/tags" Target="../tags/tag78.xml"/><Relationship Id="rId29" Type="http://schemas.openxmlformats.org/officeDocument/2006/relationships/tags" Target="../tags/tag100.xml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tags" Target="../tags/tag99.xml"/><Relationship Id="rId25" Type="http://schemas.openxmlformats.org/officeDocument/2006/relationships/image" Target="../media/image28.svg"/><Relationship Id="rId24" Type="http://schemas.openxmlformats.org/officeDocument/2006/relationships/image" Target="../media/image27.png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77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9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9565" y="3549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228600" y="0"/>
            <a:ext cx="7352665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一朵云</a:t>
            </a:r>
            <a:r>
              <a:rPr lang="en-US" altLang="zh-CN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Native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工程化进展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400" y="5981700"/>
            <a:ext cx="7543800" cy="87630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/agent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2400" y="5041900"/>
            <a:ext cx="7543800" cy="91440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开发平台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400" y="4089400"/>
            <a:ext cx="7543800" cy="91440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工程化知识库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2400" y="2171700"/>
            <a:ext cx="7543800" cy="91440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2400" y="3124200"/>
            <a:ext cx="7543800" cy="91440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角色模板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2400" y="1295400"/>
            <a:ext cx="7543800" cy="82550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场景验证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400" y="1360805"/>
            <a:ext cx="2895600" cy="3067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验证、转写、改造、重构、创新类</a:t>
            </a:r>
            <a:endParaRPr lang="zh-CN" altLang="en-US"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2400" y="1750060"/>
            <a:ext cx="2895600" cy="3067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全新产品开发</a:t>
            </a:r>
            <a:endParaRPr lang="zh-CN" altLang="en-US"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30600" y="1386205"/>
            <a:ext cx="2895600" cy="3067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质量分析、修复、排障</a:t>
            </a:r>
            <a:r>
              <a:rPr lang="en-US" altLang="zh-CN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30600" y="1753870"/>
            <a:ext cx="2895600" cy="306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基于原平台</a:t>
            </a:r>
            <a:r>
              <a:rPr lang="en-US" altLang="zh-CN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架构增量需求开发</a:t>
            </a:r>
            <a:endParaRPr lang="zh-CN" altLang="en-US"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2400" y="564515"/>
            <a:ext cx="7543800" cy="685165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知识滚轮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734300" y="5965825"/>
            <a:ext cx="4352290" cy="901700"/>
          </a:xfrm>
          <a:prstGeom prst="rect">
            <a:avLst/>
          </a:prstGeom>
          <a:solidFill>
            <a:schemeClr val="accent5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尝试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34300" y="5029200"/>
            <a:ext cx="4352290" cy="901700"/>
          </a:xfrm>
          <a:prstGeom prst="rect">
            <a:avLst/>
          </a:prstGeom>
          <a:solidFill>
            <a:schemeClr val="accent5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尝试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21600" y="4079875"/>
            <a:ext cx="4352290" cy="901700"/>
          </a:xfrm>
          <a:prstGeom prst="rect">
            <a:avLst/>
          </a:prstGeom>
          <a:solidFill>
            <a:schemeClr val="accent2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b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一朵云工程化知识方案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产品知识构建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734300" y="3143250"/>
            <a:ext cx="4352290" cy="901700"/>
          </a:xfrm>
          <a:prstGeom prst="rect">
            <a:avLst/>
          </a:prstGeom>
          <a:solidFill>
            <a:schemeClr val="accent2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部分就绪</a:t>
            </a:r>
            <a:b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需配合系统知识调试优化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-12/30</a:t>
            </a:r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734300" y="2212975"/>
            <a:ext cx="4352290" cy="901700"/>
          </a:xfrm>
          <a:prstGeom prst="rect">
            <a:avLst/>
          </a:prstGeom>
          <a:solidFill>
            <a:schemeClr val="accent5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尝试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738110" y="1295400"/>
            <a:ext cx="4352290" cy="901700"/>
          </a:xfrm>
          <a:prstGeom prst="rect">
            <a:avLst/>
          </a:prstGeom>
          <a:solidFill>
            <a:schemeClr val="accent2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增量开发未完成，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由于工程化知识库构建未完成，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代码采纳率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80%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738110" y="535305"/>
            <a:ext cx="4352290" cy="712470"/>
          </a:xfrm>
          <a:prstGeom prst="rect">
            <a:avLst/>
          </a:prstGeom>
          <a:solidFill>
            <a:schemeClr val="accent2">
              <a:alpha val="8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进行中</a:t>
            </a:r>
            <a:b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回收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hook-1230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228600" y="5115560"/>
            <a:ext cx="1913890" cy="749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AILab</a:t>
            </a:r>
            <a:endParaRPr lang="en-US" altLang="zh-CN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340" y="6177280"/>
            <a:ext cx="762000" cy="5429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290" y="6239510"/>
            <a:ext cx="732790" cy="48069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335" y="6263640"/>
            <a:ext cx="876300" cy="30480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5"/>
          <a:stretch>
            <a:fillRect/>
          </a:stretch>
        </p:blipFill>
        <p:spPr>
          <a:xfrm>
            <a:off x="357228" y="6057546"/>
            <a:ext cx="762215" cy="653014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6"/>
          <a:stretch>
            <a:fillRect/>
          </a:stretch>
        </p:blipFill>
        <p:spPr>
          <a:xfrm>
            <a:off x="1511222" y="6263907"/>
            <a:ext cx="663040" cy="308708"/>
          </a:xfrm>
          <a:prstGeom prst="rect">
            <a:avLst/>
          </a:prstGeom>
        </p:spPr>
      </p:pic>
      <p:sp>
        <p:nvSpPr>
          <p:cNvPr id="31" name="圆角矩形 30"/>
          <p:cNvSpPr/>
          <p:nvPr/>
        </p:nvSpPr>
        <p:spPr>
          <a:xfrm>
            <a:off x="2275205" y="5118100"/>
            <a:ext cx="1863725" cy="749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271645" y="5102225"/>
            <a:ext cx="2155190" cy="749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FastGPT</a:t>
            </a:r>
            <a:endParaRPr lang="en-US" altLang="zh-CN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203200" y="4191635"/>
            <a:ext cx="1913890" cy="749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库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2174240" y="4184650"/>
            <a:ext cx="1964690" cy="749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技术知识库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208145" y="4183380"/>
            <a:ext cx="1964690" cy="749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开发规范库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52400" y="3175000"/>
            <a:ext cx="1080770" cy="749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用户需求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1297940" y="3174365"/>
            <a:ext cx="1116330" cy="749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系统需求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479040" y="3176270"/>
            <a:ext cx="1116330" cy="749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647440" y="3176270"/>
            <a:ext cx="1116330" cy="749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开发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853305" y="3181350"/>
            <a:ext cx="1116330" cy="749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规范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检查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6047740" y="3181350"/>
            <a:ext cx="558165" cy="749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65125" y="2401570"/>
            <a:ext cx="14605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agent-rules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981200" y="2374900"/>
            <a:ext cx="14605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wiki-mcp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3619500" y="2374900"/>
            <a:ext cx="14605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kb-init/update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5257800" y="2374900"/>
            <a:ext cx="14605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push-error/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pull-error 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563880" y="605790"/>
            <a:ext cx="1116330" cy="59309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hook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回收机制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307080" y="605790"/>
            <a:ext cx="1255395" cy="59309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规则回收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4917440" y="605790"/>
            <a:ext cx="1255395" cy="59309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知识库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自更新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921510" y="605790"/>
            <a:ext cx="1116330" cy="59309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rgbClr val="4F81BD">
              <a:lumMod val="75000"/>
            </a:srgbClr>
          </a:lnRef>
          <a:fillRef idx="1">
            <a:srgbClr val="4F81BD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对话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输入回收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8490" y="4798695"/>
            <a:ext cx="1114425" cy="3048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8490" y="6080760"/>
            <a:ext cx="1114425" cy="3048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15" y="3404870"/>
            <a:ext cx="1179195" cy="31623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15" y="1828800"/>
            <a:ext cx="1179195" cy="316230"/>
          </a:xfrm>
          <a:prstGeom prst="rect">
            <a:avLst/>
          </a:prstGeom>
        </p:spPr>
      </p:pic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47625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工程化知识库全景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625" y="2353310"/>
            <a:ext cx="1688465" cy="762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agent-rules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4450" y="2713355"/>
            <a:ext cx="2155190" cy="762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技术知识库（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SCP\SCC\Skyops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54450" y="1146175"/>
            <a:ext cx="215519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规范知识库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625" y="3233420"/>
            <a:ext cx="1688465" cy="762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角色定义</a:t>
            </a:r>
            <a:b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知识关联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40225" y="2381885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分支管理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4015" y="1962150"/>
            <a:ext cx="1165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统一主线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54450" y="5421630"/>
            <a:ext cx="215519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业务知识库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492615" y="4067810"/>
            <a:ext cx="1057910" cy="76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40225" y="808990"/>
            <a:ext cx="12261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统一主线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96100" y="852805"/>
            <a:ext cx="742315" cy="6940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规范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52920" y="3128010"/>
            <a:ext cx="1435735" cy="5410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仓库依赖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+swagger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93560" y="1546860"/>
            <a:ext cx="738505" cy="73723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484360" y="3023870"/>
            <a:ext cx="1074420" cy="5257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代码仓库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54450" y="4067810"/>
            <a:ext cx="2155190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测试知识库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61175" y="5401310"/>
            <a:ext cx="1436370" cy="762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技术白皮书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61175" y="4067810"/>
            <a:ext cx="1435735" cy="762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254740" y="4067810"/>
            <a:ext cx="899160" cy="762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</a:t>
            </a:r>
            <a:b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b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V="1">
            <a:off x="8288655" y="3286760"/>
            <a:ext cx="1195705" cy="15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225790" y="3322955"/>
            <a:ext cx="1213485" cy="427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代码反推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版本更新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11245850" y="1219200"/>
            <a:ext cx="898525" cy="7175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TMG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>
            <p:custDataLst>
              <p:tags r:id="rId6"/>
            </p:custDataLst>
          </p:nvPr>
        </p:nvSpPr>
        <p:spPr>
          <a:xfrm>
            <a:off x="11254740" y="2463800"/>
            <a:ext cx="894080" cy="10325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TL/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架构师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58810" y="4461510"/>
            <a:ext cx="12134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 flipV="1">
            <a:off x="8296910" y="4453255"/>
            <a:ext cx="1195705" cy="8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9491980" y="5401310"/>
            <a:ext cx="2656840" cy="762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MO/TL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6009640" y="4448810"/>
            <a:ext cx="851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6009640" y="5802630"/>
            <a:ext cx="851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7693025" y="870585"/>
            <a:ext cx="798830" cy="14090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内部产品开发规范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6009640" y="3233420"/>
            <a:ext cx="851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043295" y="3199765"/>
            <a:ext cx="8502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26785" y="4465320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09640" y="5858510"/>
            <a:ext cx="9944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126480" y="1619885"/>
            <a:ext cx="726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latin typeface="微软雅黑" panose="020B0503020204020204" charset="-122"/>
                <a:ea typeface="微软雅黑" panose="020B0503020204020204" charset="-122"/>
              </a:rPr>
              <a:t>上库</a:t>
            </a:r>
            <a:endParaRPr 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箭头连接符 48"/>
          <p:cNvCxnSpPr>
            <a:endCxn id="6" idx="3"/>
          </p:cNvCxnSpPr>
          <p:nvPr/>
        </p:nvCxnSpPr>
        <p:spPr>
          <a:xfrm flipH="1">
            <a:off x="6009640" y="1519555"/>
            <a:ext cx="90424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>
            <p:custDataLst>
              <p:tags r:id="rId7"/>
            </p:custDataLst>
          </p:nvPr>
        </p:nvSpPr>
        <p:spPr>
          <a:xfrm>
            <a:off x="9489440" y="1226185"/>
            <a:ext cx="1074420" cy="7175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原始规范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.doc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2" name="直接箭头连接符 51"/>
          <p:cNvCxnSpPr>
            <a:stCxn id="51" idx="1"/>
            <a:endCxn id="41" idx="3"/>
          </p:cNvCxnSpPr>
          <p:nvPr/>
        </p:nvCxnSpPr>
        <p:spPr>
          <a:xfrm flipH="1" flipV="1">
            <a:off x="8491855" y="1575435"/>
            <a:ext cx="997585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8589010" y="1594485"/>
            <a:ext cx="8502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肘形连接符 53"/>
          <p:cNvCxnSpPr>
            <a:stCxn id="7" idx="3"/>
            <a:endCxn id="15" idx="1"/>
          </p:cNvCxnSpPr>
          <p:nvPr/>
        </p:nvCxnSpPr>
        <p:spPr>
          <a:xfrm>
            <a:off x="1736090" y="3642995"/>
            <a:ext cx="2118360" cy="215963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肘形连接符 54"/>
          <p:cNvCxnSpPr/>
          <p:nvPr/>
        </p:nvCxnSpPr>
        <p:spPr>
          <a:xfrm>
            <a:off x="1736090" y="3642995"/>
            <a:ext cx="2118360" cy="80581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肘形连接符 55"/>
          <p:cNvCxnSpPr/>
          <p:nvPr/>
        </p:nvCxnSpPr>
        <p:spPr>
          <a:xfrm flipV="1">
            <a:off x="1736090" y="3094355"/>
            <a:ext cx="2118360" cy="5486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7" idx="3"/>
            <a:endCxn id="6" idx="1"/>
          </p:cNvCxnSpPr>
          <p:nvPr/>
        </p:nvCxnSpPr>
        <p:spPr>
          <a:xfrm flipV="1">
            <a:off x="1736090" y="1527175"/>
            <a:ext cx="2118360" cy="21158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1784985" y="5497195"/>
            <a:ext cx="2170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需求阶段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/RAG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相关业务背景知识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772285" y="3947795"/>
            <a:ext cx="21704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设计阶段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/RAG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关联资源场景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测试阶段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检索关联案例</a:t>
            </a:r>
            <a:endParaRPr lang="en-US" altLang="zh-CN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765935" y="2776855"/>
            <a:ext cx="2107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文本索引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关联模块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804035" y="1228725"/>
            <a:ext cx="2044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endParaRPr lang="en-US" altLang="zh-CN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参考引用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遵守内部规范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直接箭头连接符 61"/>
          <p:cNvCxnSpPr>
            <a:stCxn id="37" idx="1"/>
          </p:cNvCxnSpPr>
          <p:nvPr/>
        </p:nvCxnSpPr>
        <p:spPr>
          <a:xfrm flipH="1">
            <a:off x="8293735" y="5782310"/>
            <a:ext cx="119824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8655685" y="5506720"/>
            <a:ext cx="664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272915" y="3721100"/>
            <a:ext cx="1423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，纯文本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10550525" y="4448810"/>
            <a:ext cx="7042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H="1">
            <a:off x="10567035" y="3128010"/>
            <a:ext cx="7042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>
            <a:off x="10567035" y="1584960"/>
            <a:ext cx="7042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8495030" y="4158615"/>
            <a:ext cx="9188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</a:t>
            </a:r>
            <a:endParaRPr lang="zh-CN"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8425180" y="2403475"/>
            <a:ext cx="1109980" cy="965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sql-tools/</a:t>
            </a:r>
            <a:b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KB-init/</a:t>
            </a:r>
            <a:endParaRPr 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update/</a:t>
            </a:r>
            <a:b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api-tools</a:t>
            </a:r>
            <a:endParaRPr lang="en-US"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43295" y="2924175"/>
            <a:ext cx="11099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kb-aggr</a:t>
            </a:r>
            <a:endParaRPr lang="en-US" altLang="zh-CN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52920" y="2463800"/>
            <a:ext cx="1435735" cy="5410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数据库结构知识库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9492615" y="2463800"/>
            <a:ext cx="1074420" cy="5257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数据库环境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0550525" y="2719070"/>
            <a:ext cx="7042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8314690" y="2665730"/>
            <a:ext cx="1195705" cy="15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" idx="2"/>
            <a:endCxn id="17" idx="0"/>
          </p:cNvCxnSpPr>
          <p:nvPr/>
        </p:nvCxnSpPr>
        <p:spPr>
          <a:xfrm>
            <a:off x="7571105" y="3004820"/>
            <a:ext cx="0" cy="123190"/>
          </a:xfrm>
          <a:prstGeom prst="straightConnector1">
            <a:avLst/>
          </a:prstGeom>
          <a:solidFill>
            <a:schemeClr val="accent1"/>
          </a:solidFill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4347210" y="4912360"/>
            <a:ext cx="1779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pdf+doc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、文本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 bwMode="auto">
          <a:xfrm>
            <a:off x="0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技术知识库构建思路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" y="541655"/>
            <a:ext cx="5283200" cy="6241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940" y="1738630"/>
            <a:ext cx="2457450" cy="37338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78220" y="1177925"/>
            <a:ext cx="1684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提示词工程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890" y="1357630"/>
            <a:ext cx="3265805" cy="531177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442450" y="989330"/>
            <a:ext cx="1684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在项目内执行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0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技术知识库构建思路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0" y="985520"/>
            <a:ext cx="40849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、文档索引：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仓库概览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。人为地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为代码库建立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阅读代码时，可以先查索引，再精准定位文件，避免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大海捞针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0015" y="4671060"/>
            <a:ext cx="40754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、完整的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明确指导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AI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tree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grep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find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shell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命令去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看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。强制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Agent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先收集信息，再生成内容，减少幻觉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3065145"/>
            <a:ext cx="4189730" cy="727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条件执行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生成内容质量检查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940" y="4261485"/>
            <a:ext cx="3637280" cy="24447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005" y="4450715"/>
            <a:ext cx="2771140" cy="219075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730" y="84455"/>
            <a:ext cx="5934075" cy="101917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730" y="1103630"/>
            <a:ext cx="4359275" cy="141922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780" y="1172845"/>
            <a:ext cx="3538220" cy="135064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4955" y="2698115"/>
            <a:ext cx="5410200" cy="56197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00" y="2698115"/>
            <a:ext cx="2469515" cy="138874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1315" y="3297555"/>
            <a:ext cx="2895600" cy="8001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0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技术知识库构建思路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3925" y="619125"/>
            <a:ext cx="40754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版本号管理和增量更新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" y="1413510"/>
            <a:ext cx="5210175" cy="4591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85" y="1288415"/>
            <a:ext cx="4086225" cy="3381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110" y="4766945"/>
            <a:ext cx="3914775" cy="20288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0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技术知识库构建思路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3925" y="619125"/>
            <a:ext cx="63906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API-swagger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和数据库结构，靠工具生成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55290" y="5035550"/>
            <a:ext cx="5815330" cy="7785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运行时环境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955290" y="1624330"/>
            <a:ext cx="2108200" cy="10902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服务的</a:t>
            </a:r>
            <a:r>
              <a:rPr lang="en-US" altLang="zh-CN"/>
              <a:t>API</a:t>
            </a:r>
            <a:r>
              <a:rPr lang="zh-CN" altLang="en-US"/>
              <a:t>文档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86195" y="1624330"/>
            <a:ext cx="2108200" cy="10902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所有数据库结构</a:t>
            </a:r>
            <a:endParaRPr lang="zh-CN" altLang="en-US"/>
          </a:p>
          <a:p>
            <a:pPr algn="ctr"/>
            <a:r>
              <a:rPr lang="zh-CN" altLang="en-US"/>
              <a:t>结构化</a:t>
            </a:r>
            <a:r>
              <a:rPr lang="en-US" altLang="zh-CN"/>
              <a:t>/</a:t>
            </a:r>
            <a:r>
              <a:rPr lang="zh-CN" altLang="en-US"/>
              <a:t>非结构化</a:t>
            </a:r>
            <a:endParaRPr lang="zh-CN" altLang="en-US"/>
          </a:p>
        </p:txBody>
      </p:sp>
      <p:sp>
        <p:nvSpPr>
          <p:cNvPr id="13" name="上箭头 12"/>
          <p:cNvSpPr/>
          <p:nvPr/>
        </p:nvSpPr>
        <p:spPr>
          <a:xfrm>
            <a:off x="3690620" y="3039110"/>
            <a:ext cx="643255" cy="184848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7211695" y="3039110"/>
            <a:ext cx="643255" cy="184848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741295" y="3690620"/>
            <a:ext cx="1464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API tools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809615" y="3690620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Schema tools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0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技术知识库构建思路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69850" y="1221740"/>
            <a:ext cx="782701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特性分支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doc/kb/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.kb-meta.json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知识库元信息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用于增量更新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仓库概览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项目基础信息、知识库索引导航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仓库架构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仓库架构可视化（着重于仓库内模块的分层架构）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仓库依赖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仓库依赖关系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Mermaid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依赖图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外部接入指南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外部系统交互指南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endParaRPr lang="en-US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业务知识库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业务领域知识沉淀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核心业务领域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业务领域、应用功能说明（用户视角）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业务流程索引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所有业务流程概述（非公共库仓库）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└──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业务流程详解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# 3-5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个核心流程深度分析（含时序图，非公共库仓库）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endParaRPr lang="en-US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技术知识库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技术实现知识沉淀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接口索引（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API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、公共库函数）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--&gt;apiSwagger.json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代码编写指南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代码组织、风格、配置文件编写规范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数据库结构、中间件数据结构和设计规范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--&gt;sqlschema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└──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排障指南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故障处理手册，含工具和日志分析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endParaRPr lang="en-US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└──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测试知识库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   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测试知识沉淀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└──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单元测试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.md         #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测试框架、运行方法、测试规范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814820" y="664845"/>
            <a:ext cx="1448435" cy="431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Global-KB</a:t>
            </a:r>
            <a:endParaRPr kumimoji="1" lang="zh-CN" altLang="en-US" sz="1400" dirty="0"/>
          </a:p>
        </p:txBody>
      </p:sp>
      <p:sp>
        <p:nvSpPr>
          <p:cNvPr id="5" name="圆角矩形 4"/>
          <p:cNvSpPr/>
          <p:nvPr/>
        </p:nvSpPr>
        <p:spPr>
          <a:xfrm>
            <a:off x="2730379" y="664830"/>
            <a:ext cx="1431925" cy="431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仓库</a:t>
            </a:r>
            <a:r>
              <a:rPr kumimoji="1" lang="en-US" altLang="zh-CN" sz="1400" dirty="0"/>
              <a:t>KB</a:t>
            </a:r>
            <a:endParaRPr kumimoji="1" lang="en-US" altLang="zh-CN" sz="1400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5048250" y="1120140"/>
            <a:ext cx="2375535" cy="641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4" idx="2"/>
          </p:cNvCxnSpPr>
          <p:nvPr/>
        </p:nvCxnSpPr>
        <p:spPr>
          <a:xfrm flipV="1">
            <a:off x="5075555" y="1096645"/>
            <a:ext cx="2463800" cy="1120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650365" y="742950"/>
            <a:ext cx="85344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KB-init</a:t>
            </a:r>
            <a:endParaRPr lang="en-US"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127625" y="605155"/>
            <a:ext cx="11099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kb-aggr</a:t>
            </a:r>
            <a:endParaRPr lang="en-US" altLang="zh-CN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箭头连接符 12"/>
          <p:cNvCxnSpPr>
            <a:stCxn id="12" idx="3"/>
            <a:endCxn id="5" idx="1"/>
          </p:cNvCxnSpPr>
          <p:nvPr/>
        </p:nvCxnSpPr>
        <p:spPr>
          <a:xfrm>
            <a:off x="2503805" y="880745"/>
            <a:ext cx="2266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3"/>
            <a:endCxn id="4" idx="1"/>
          </p:cNvCxnSpPr>
          <p:nvPr/>
        </p:nvCxnSpPr>
        <p:spPr>
          <a:xfrm>
            <a:off x="4162425" y="880745"/>
            <a:ext cx="26523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/>
          <p:nvPr>
            <p:custDataLst>
              <p:tags r:id="rId2"/>
            </p:custDataLst>
          </p:nvPr>
        </p:nvGraphicFramePr>
        <p:xfrm>
          <a:off x="7119620" y="1510030"/>
          <a:ext cx="5049520" cy="486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870"/>
                <a:gridCol w="861060"/>
                <a:gridCol w="2569845"/>
                <a:gridCol w="1261745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要求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产出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知识构建和知识沉淀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生成仓库的</a:t>
                      </a:r>
                      <a:r>
                        <a:rPr lang="zh-CN" altLang="en-US" sz="12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知识的准确性、完整性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&gt;90%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具备泛化能力。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kb-init/update</a:t>
                      </a:r>
                      <a:endParaRPr lang="en-US" altLang="zh-CN" sz="12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知识使用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知识的可理解性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能理解生成的知识，开发的代码符合仓库的要求。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基于任务依赖能找到依赖仓库的知识文档。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能准确读取到任务关联的知识，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生成代码规范符合预期。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大面积复制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赋能各个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TL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，将各个责任田内的仓库生成知识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KB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各个责任田内仓库的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KB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，经过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TL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认证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全局知识构建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基于各个仓库的概览和仓库依赖生成</a:t>
                      </a:r>
                      <a:r>
                        <a:rPr lang="zh-CN" altLang="en-US" sz="12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产品全局性知识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，包含全局索引和产品模块依赖图。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支持从全局知识定位到领域模块知识。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kb-aggr</a:t>
                      </a:r>
                      <a:endParaRPr lang="en-US" altLang="zh-CN" sz="12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知识实时更新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支持自动或者手动方式，将仓库的知识变更同步到全局知识。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69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知识验证和迭代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将</a:t>
                      </a:r>
                      <a:r>
                        <a:rPr lang="zh-CN" altLang="en-US" sz="120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全局知识应用到产品的需求和设计阶段，验证端到端的效果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知识方案独立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知识方案可落地到其他产线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最佳实践。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959100" y="296545"/>
            <a:ext cx="1203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特性分支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37375" y="296545"/>
            <a:ext cx="1203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特性分支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5" y="5556885"/>
            <a:ext cx="3019425" cy="12909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800" y="5556885"/>
            <a:ext cx="3457575" cy="13303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127000" y="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技术知识库测试效果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468630"/>
            <a:ext cx="5975350" cy="6232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775" y="802640"/>
            <a:ext cx="6081395" cy="15259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98590" y="2967990"/>
            <a:ext cx="5015865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&gt;128K token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仓库存在生成知识不稳定的情况。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98590" y="3647757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大致对应 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个英文字符</a:t>
            </a:r>
            <a:endParaRPr lang="zh-CN" altLang="en-US" sz="14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官方经验值；中文 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token≈ 0.6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个汉字）</a:t>
            </a:r>
            <a:endParaRPr lang="zh-CN" altLang="en-US" sz="14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98590" y="448119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128K~= 6token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 220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100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98590" y="5098733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~=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一个中等 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小的微服务</a:t>
            </a:r>
            <a:endParaRPr lang="zh-CN" altLang="en-US" sz="14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auto">
          <a:xfrm>
            <a:off x="127000" y="0"/>
            <a:ext cx="5123815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降低大仓库生成知识幻觉的思考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2"/>
            </p:custDataLst>
          </p:nvPr>
        </p:nvSpPr>
        <p:spPr>
          <a:xfrm>
            <a:off x="4570730" y="3363913"/>
            <a:ext cx="1548765" cy="1548765"/>
          </a:xfrm>
          <a:prstGeom prst="ellipse">
            <a:avLst/>
          </a:prstGeom>
          <a:noFill/>
          <a:ln w="6350">
            <a:solidFill>
              <a:srgbClr val="000000">
                <a:lumMod val="65000"/>
                <a:lumOff val="35000"/>
                <a:alpha val="25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弧形 27"/>
          <p:cNvSpPr/>
          <p:nvPr>
            <p:custDataLst>
              <p:tags r:id="rId3"/>
            </p:custDataLst>
          </p:nvPr>
        </p:nvSpPr>
        <p:spPr>
          <a:xfrm>
            <a:off x="3712845" y="2507298"/>
            <a:ext cx="3263900" cy="3264535"/>
          </a:xfrm>
          <a:prstGeom prst="arc">
            <a:avLst>
              <a:gd name="adj1" fmla="val 17303427"/>
              <a:gd name="adj2" fmla="val 19073496"/>
            </a:avLst>
          </a:prstGeom>
          <a:ln>
            <a:solidFill>
              <a:srgbClr val="000000">
                <a:lumMod val="65000"/>
                <a:lumOff val="35000"/>
                <a:alpha val="25000"/>
              </a:srgbClr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弧形 28"/>
          <p:cNvSpPr/>
          <p:nvPr>
            <p:custDataLst>
              <p:tags r:id="rId4"/>
            </p:custDataLst>
          </p:nvPr>
        </p:nvSpPr>
        <p:spPr>
          <a:xfrm rot="5880000">
            <a:off x="3716020" y="2506028"/>
            <a:ext cx="3264535" cy="3263900"/>
          </a:xfrm>
          <a:prstGeom prst="arc">
            <a:avLst>
              <a:gd name="adj1" fmla="val 15717324"/>
              <a:gd name="adj2" fmla="val 17491149"/>
            </a:avLst>
          </a:prstGeom>
          <a:ln>
            <a:solidFill>
              <a:srgbClr val="000000">
                <a:lumMod val="65000"/>
                <a:lumOff val="35000"/>
                <a:alpha val="25000"/>
              </a:srgbClr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弧形 6"/>
          <p:cNvSpPr/>
          <p:nvPr>
            <p:custDataLst>
              <p:tags r:id="rId5"/>
            </p:custDataLst>
          </p:nvPr>
        </p:nvSpPr>
        <p:spPr>
          <a:xfrm rot="11880000">
            <a:off x="3722370" y="2517458"/>
            <a:ext cx="3263900" cy="3264535"/>
          </a:xfrm>
          <a:prstGeom prst="arc">
            <a:avLst>
              <a:gd name="adj1" fmla="val 14086945"/>
              <a:gd name="adj2" fmla="val 15878745"/>
            </a:avLst>
          </a:prstGeom>
          <a:ln>
            <a:solidFill>
              <a:srgbClr val="000000">
                <a:lumMod val="65000"/>
                <a:lumOff val="35000"/>
                <a:alpha val="25000"/>
              </a:srgbClr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弧形 30"/>
          <p:cNvSpPr/>
          <p:nvPr>
            <p:custDataLst>
              <p:tags r:id="rId6"/>
            </p:custDataLst>
          </p:nvPr>
        </p:nvSpPr>
        <p:spPr>
          <a:xfrm rot="16500000">
            <a:off x="3723005" y="2517458"/>
            <a:ext cx="3264535" cy="3263900"/>
          </a:xfrm>
          <a:prstGeom prst="arc">
            <a:avLst>
              <a:gd name="adj1" fmla="val 13827116"/>
              <a:gd name="adj2" fmla="val 15489774"/>
            </a:avLst>
          </a:prstGeom>
          <a:ln>
            <a:solidFill>
              <a:srgbClr val="000000">
                <a:lumMod val="65000"/>
                <a:lumOff val="35000"/>
                <a:alpha val="25000"/>
              </a:srgbClr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327775" y="3113088"/>
            <a:ext cx="1043940" cy="1043940"/>
          </a:xfrm>
          <a:prstGeom prst="ellipse">
            <a:avLst/>
          </a:prstGeom>
          <a:noFill/>
          <a:ln w="6350">
            <a:solidFill>
              <a:srgbClr val="000000">
                <a:lumMod val="65000"/>
                <a:lumOff val="35000"/>
                <a:alpha val="25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任意多边形: 形状 41"/>
          <p:cNvSpPr/>
          <p:nvPr>
            <p:custDataLst>
              <p:tags r:id="rId8"/>
            </p:custDataLst>
          </p:nvPr>
        </p:nvSpPr>
        <p:spPr>
          <a:xfrm>
            <a:off x="6435725" y="3221038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7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椭圆 18"/>
          <p:cNvSpPr/>
          <p:nvPr>
            <p:custDataLst>
              <p:tags r:id="rId9"/>
            </p:custDataLst>
          </p:nvPr>
        </p:nvSpPr>
        <p:spPr>
          <a:xfrm>
            <a:off x="5750560" y="4894263"/>
            <a:ext cx="1043940" cy="1043940"/>
          </a:xfrm>
          <a:prstGeom prst="ellipse">
            <a:avLst/>
          </a:prstGeom>
          <a:noFill/>
          <a:ln w="6350">
            <a:solidFill>
              <a:srgbClr val="000000">
                <a:lumMod val="65000"/>
                <a:lumOff val="35000"/>
                <a:alpha val="25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任意多边形: 形状 42"/>
          <p:cNvSpPr/>
          <p:nvPr>
            <p:custDataLst>
              <p:tags r:id="rId10"/>
            </p:custDataLst>
          </p:nvPr>
        </p:nvSpPr>
        <p:spPr>
          <a:xfrm>
            <a:off x="5858510" y="5002213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7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: 形状 3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4714875" y="3508058"/>
            <a:ext cx="1260000" cy="1260000"/>
          </a:xfrm>
          <a:custGeom>
            <a:avLst/>
            <a:gdLst>
              <a:gd name="connsiteX0" fmla="*/ 0 w 1536103"/>
              <a:gd name="connsiteY0" fmla="*/ 768052 h 1536103"/>
              <a:gd name="connsiteX1" fmla="*/ 768052 w 1536103"/>
              <a:gd name="connsiteY1" fmla="*/ 0 h 1536103"/>
              <a:gd name="connsiteX2" fmla="*/ 1536104 w 1536103"/>
              <a:gd name="connsiteY2" fmla="*/ 768052 h 1536103"/>
              <a:gd name="connsiteX3" fmla="*/ 768052 w 1536103"/>
              <a:gd name="connsiteY3" fmla="*/ 1536104 h 1536103"/>
              <a:gd name="connsiteX4" fmla="*/ 0 w 1536103"/>
              <a:gd name="connsiteY4" fmla="*/ 768052 h 15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6103" h="1536103">
                <a:moveTo>
                  <a:pt x="0" y="768052"/>
                </a:moveTo>
                <a:cubicBezTo>
                  <a:pt x="0" y="343869"/>
                  <a:pt x="343869" y="0"/>
                  <a:pt x="768052" y="0"/>
                </a:cubicBezTo>
                <a:cubicBezTo>
                  <a:pt x="1192235" y="0"/>
                  <a:pt x="1536104" y="343869"/>
                  <a:pt x="1536104" y="768052"/>
                </a:cubicBezTo>
                <a:cubicBezTo>
                  <a:pt x="1536104" y="1192235"/>
                  <a:pt x="1192235" y="1536104"/>
                  <a:pt x="768052" y="1536104"/>
                </a:cubicBezTo>
                <a:cubicBezTo>
                  <a:pt x="343869" y="1536104"/>
                  <a:pt x="0" y="1192235"/>
                  <a:pt x="0" y="768052"/>
                </a:cubicBez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7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spcFirstLastPara="0" vertOverflow="overflow" horzOverflow="overflow" vert="horz" wrap="square" lIns="71755" tIns="71755" rIns="71755" bIns="71755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</a:t>
            </a:r>
            <a:b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项标题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7478395" y="3113088"/>
            <a:ext cx="2447290" cy="7200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优化提示词：</a:t>
            </a:r>
            <a:endParaRPr lang="zh-CN" altLang="en-US" sz="1400" b="1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减少知识生成提示词的大小</a:t>
            </a: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3" name="文本框 62"/>
          <p:cNvSpPr txBox="1"/>
          <p:nvPr>
            <p:custDataLst>
              <p:tags r:id="rId13"/>
            </p:custDataLst>
          </p:nvPr>
        </p:nvSpPr>
        <p:spPr>
          <a:xfrm>
            <a:off x="6988810" y="5317490"/>
            <a:ext cx="2936875" cy="7200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交叉验证思路：</a:t>
            </a:r>
            <a:endParaRPr lang="zh-CN" altLang="en-US" sz="1400" b="1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次生成，然后采用评估</a:t>
            </a: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选出有争议的让人确认</a:t>
            </a:r>
            <a:b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en-US" altLang="zh-CN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-62865" y="3540125"/>
            <a:ext cx="3173730" cy="8445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r">
              <a:lnSpc>
                <a:spcPct val="130000"/>
              </a:lnSpc>
              <a:buClrTx/>
              <a:buSzTx/>
              <a:buFontTx/>
            </a:pPr>
            <a:r>
              <a:rPr lang="zh-CN" altLang="en-US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通过工具提取复杂内容</a:t>
            </a:r>
            <a:b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使用工具生成</a:t>
            </a: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API-swagger</a:t>
            </a:r>
            <a:endParaRPr lang="en-US" altLang="zh-CN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r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基于环境抽取数据库结构</a:t>
            </a: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1230630" y="5317173"/>
            <a:ext cx="2447290" cy="7200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r">
              <a:lnSpc>
                <a:spcPct val="130000"/>
              </a:lnSpc>
              <a:buClrTx/>
              <a:buSzTx/>
              <a:buFontTx/>
            </a:pPr>
            <a:r>
              <a:rPr lang="en-US" altLang="zh-CN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subagent</a:t>
            </a:r>
            <a:r>
              <a:rPr lang="zh-CN" altLang="en-US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br>
              <a:rPr lang="zh-CN" altLang="en-US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每个文档都拆成子</a:t>
            </a: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b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基于文件树做任务进度管理</a:t>
            </a: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6"/>
            </p:custDataLst>
          </p:nvPr>
        </p:nvSpPr>
        <p:spPr>
          <a:xfrm>
            <a:off x="3885565" y="4894263"/>
            <a:ext cx="1043940" cy="1043940"/>
          </a:xfrm>
          <a:prstGeom prst="ellipse">
            <a:avLst/>
          </a:prstGeom>
          <a:noFill/>
          <a:ln w="6350">
            <a:solidFill>
              <a:srgbClr val="000000">
                <a:lumMod val="65000"/>
                <a:lumOff val="35000"/>
                <a:alpha val="25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任意多边形: 形状 44"/>
          <p:cNvSpPr/>
          <p:nvPr>
            <p:custDataLst>
              <p:tags r:id="rId17"/>
            </p:custDataLst>
          </p:nvPr>
        </p:nvSpPr>
        <p:spPr>
          <a:xfrm>
            <a:off x="3993515" y="5002213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7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>
            <p:custDataLst>
              <p:tags r:id="rId18"/>
            </p:custDataLst>
          </p:nvPr>
        </p:nvSpPr>
        <p:spPr>
          <a:xfrm>
            <a:off x="4813935" y="2033588"/>
            <a:ext cx="1043940" cy="1043940"/>
          </a:xfrm>
          <a:prstGeom prst="ellipse">
            <a:avLst/>
          </a:prstGeom>
          <a:noFill/>
          <a:ln w="6350">
            <a:solidFill>
              <a:srgbClr val="000000">
                <a:lumMod val="65000"/>
                <a:lumOff val="35000"/>
                <a:alpha val="25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任意多边形: 形状 45"/>
          <p:cNvSpPr/>
          <p:nvPr>
            <p:custDataLst>
              <p:tags r:id="rId19"/>
            </p:custDataLst>
          </p:nvPr>
        </p:nvSpPr>
        <p:spPr>
          <a:xfrm>
            <a:off x="4921885" y="2141538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7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弧形 35"/>
          <p:cNvSpPr/>
          <p:nvPr>
            <p:custDataLst>
              <p:tags r:id="rId20"/>
            </p:custDataLst>
          </p:nvPr>
        </p:nvSpPr>
        <p:spPr>
          <a:xfrm rot="16500000">
            <a:off x="3723005" y="2517458"/>
            <a:ext cx="3264535" cy="3263900"/>
          </a:xfrm>
          <a:prstGeom prst="arc">
            <a:avLst>
              <a:gd name="adj1" fmla="val 18140667"/>
              <a:gd name="adj2" fmla="val 19782984"/>
            </a:avLst>
          </a:prstGeom>
          <a:ln>
            <a:solidFill>
              <a:srgbClr val="000000">
                <a:lumMod val="65000"/>
                <a:lumOff val="35000"/>
                <a:alpha val="25000"/>
              </a:srgbClr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>
            <p:custDataLst>
              <p:tags r:id="rId21"/>
            </p:custDataLst>
          </p:nvPr>
        </p:nvSpPr>
        <p:spPr>
          <a:xfrm>
            <a:off x="3318510" y="3113088"/>
            <a:ext cx="1043940" cy="1043940"/>
          </a:xfrm>
          <a:prstGeom prst="ellipse">
            <a:avLst/>
          </a:prstGeom>
          <a:noFill/>
          <a:ln w="6350">
            <a:solidFill>
              <a:srgbClr val="000000">
                <a:lumMod val="65000"/>
                <a:lumOff val="35000"/>
                <a:alpha val="25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2"/>
            </p:custDataLst>
          </p:nvPr>
        </p:nvSpPr>
        <p:spPr>
          <a:xfrm>
            <a:off x="3426460" y="3221038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7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图片 15" descr="343439383331313b343532303033313bd3a6d3c3c9ccb3c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82870" y="2402523"/>
            <a:ext cx="306000" cy="306000"/>
          </a:xfrm>
          <a:prstGeom prst="rect">
            <a:avLst/>
          </a:prstGeom>
        </p:spPr>
      </p:pic>
      <p:pic>
        <p:nvPicPr>
          <p:cNvPr id="37" name="图片 23" descr="343439383331313b343532303034303bcffacadbb9dcc0ed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687445" y="3482023"/>
            <a:ext cx="306000" cy="306000"/>
          </a:xfrm>
          <a:prstGeom prst="rect">
            <a:avLst/>
          </a:prstGeom>
        </p:spPr>
      </p:pic>
      <p:pic>
        <p:nvPicPr>
          <p:cNvPr id="35" name="图片 19" descr="343435383036303b343532343136343bcfeec4bfb7b6cea7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254500" y="5263198"/>
            <a:ext cx="306000" cy="306000"/>
          </a:xfrm>
          <a:prstGeom prst="rect">
            <a:avLst/>
          </a:prstGeom>
        </p:spPr>
      </p:pic>
      <p:pic>
        <p:nvPicPr>
          <p:cNvPr id="34" name="图片 20" descr="343435383038363b343532323339383bd6b4d0d0cad6b6ce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119495" y="5263198"/>
            <a:ext cx="306000" cy="306000"/>
          </a:xfrm>
          <a:prstGeom prst="rect">
            <a:avLst/>
          </a:prstGeom>
        </p:spPr>
      </p:pic>
      <p:pic>
        <p:nvPicPr>
          <p:cNvPr id="33" name="图片 19" descr="343435383038363b343532323339393bd6b4d0d0d5aad2aa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696710" y="3482023"/>
            <a:ext cx="306000" cy="3060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4131945" y="902970"/>
            <a:ext cx="2447290" cy="10655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b="1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减少载入代码上下文：</a:t>
            </a:r>
            <a:endParaRPr lang="zh-CN" altLang="en-US" sz="1400" b="1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、改进上下文协议</a:t>
            </a:r>
            <a:b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、剔除无用的头注释</a:t>
            </a: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、分库（不建议）</a:t>
            </a:r>
            <a:endParaRPr lang="zh-CN" altLang="en-US" sz="1400" spc="1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45580" y="1191895"/>
            <a:ext cx="4819015" cy="10687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39025" y="3787775"/>
            <a:ext cx="3925570" cy="1058545"/>
          </a:xfrm>
          <a:prstGeom prst="rect">
            <a:avLst/>
          </a:prstGeom>
        </p:spPr>
      </p:pic>
    </p:spTree>
    <p:custDataLst>
      <p:tags r:id="rId4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信服常用LOGO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765" y="266065"/>
            <a:ext cx="1089554" cy="352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实践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7235" y="878840"/>
            <a:ext cx="1045654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云，提供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kb-init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token_num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工具。</a:t>
            </a:r>
            <a:b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基本目标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每人实践一次知识构建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掌握方法和工具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完成能力自评和跟进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进阶目标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知识构建的准确性和完整性大于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80%。</a:t>
            </a:r>
            <a:b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研讨实践：</a:t>
            </a:r>
            <a:b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研讨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更优的方案生成知识的更准确和完整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能够理解仓库的代码结构、开发规范与业务逻辑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，从而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生成符合仓库规范、具备可维护性的代码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。提升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在代码生成、修改与重构任务中的准确性与一致性，降低人工干预成本。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研讨内容总结到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文档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。30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选三个组分享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、实践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为仓库生成知识库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（TL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可以自选仓库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也可以用布道师选择的仓库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。个人实践总结到文档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个小时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包括环境准备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个线上团队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所有线下团队各分享一次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互相借鉴讨论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b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4、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BG AI Native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组织能力转型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确认后离场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线上同事自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评由布道师跟进。</a:t>
            </a:r>
            <a:b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代码和设计等资产只能限定在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costrict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加内部模型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GLM4.6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组合，外部工具可用来优化提示词。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1071880"/>
            <a:ext cx="11934825" cy="47148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知识构建最佳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实践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2645410" y="3820795"/>
            <a:ext cx="154940" cy="22390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9765" y="6059805"/>
            <a:ext cx="4622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大于</a:t>
            </a:r>
            <a:r>
              <a:rPr lang="en-US" altLang="zh-CN"/>
              <a:t>1M token</a:t>
            </a:r>
            <a:r>
              <a:rPr lang="zh-CN" altLang="en-US"/>
              <a:t>的仓库，且内部有多个业务流程的，进行拆分</a:t>
            </a:r>
            <a:r>
              <a:rPr lang="zh-CN" altLang="en-US"/>
              <a:t>生成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905" y="6059805"/>
            <a:ext cx="6600825" cy="485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405" y="1407795"/>
            <a:ext cx="2295525" cy="49149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53160" y="894080"/>
            <a:ext cx="882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</a:t>
            </a:r>
            <a:r>
              <a:rPr lang="zh-CN" altLang="en-US"/>
              <a:t>仓库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155" y="1262380"/>
            <a:ext cx="7534275" cy="51612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77660" y="807085"/>
            <a:ext cx="239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仓库概览内知识</a:t>
            </a:r>
            <a:r>
              <a:rPr lang="zh-CN" altLang="en-US"/>
              <a:t>索引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055" y="1106805"/>
            <a:ext cx="167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SQL-Schema 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53210"/>
            <a:ext cx="4067175" cy="4628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335" y="2054225"/>
            <a:ext cx="4432935" cy="40100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795" y="1602740"/>
            <a:ext cx="3665855" cy="49136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6675" y="1184910"/>
            <a:ext cx="234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SQL-Schema </a:t>
            </a:r>
            <a:r>
              <a:rPr lang="zh-CN" altLang="en-US"/>
              <a:t>索引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984615" y="1106805"/>
            <a:ext cx="234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表数据结构和</a:t>
            </a:r>
            <a:r>
              <a:rPr lang="zh-CN" altLang="en-US"/>
              <a:t>案例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38125" y="1106805"/>
            <a:ext cx="2858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产品知识库（独立</a:t>
            </a:r>
            <a:r>
              <a:rPr lang="zh-CN" altLang="en-US"/>
              <a:t>仓库）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" y="1998980"/>
            <a:ext cx="2964815" cy="3257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50" y="729615"/>
            <a:ext cx="6562725" cy="55911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6320790"/>
            <a:ext cx="3733800" cy="457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585" y="0"/>
            <a:ext cx="3229610" cy="6858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87115" y="214630"/>
            <a:ext cx="406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kb-aggr</a:t>
            </a:r>
            <a:r>
              <a:rPr lang="zh-CN" altLang="en-US"/>
              <a:t>生成（支持仓库内</a:t>
            </a:r>
            <a:r>
              <a:rPr lang="zh-CN" altLang="en-US"/>
              <a:t>聚合）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知识库完成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进度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0"/>
            <a:ext cx="6771640" cy="381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68375" y="5701665"/>
            <a:ext cx="4593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</a:t>
            </a:r>
            <a:r>
              <a:rPr lang="zh-CN" altLang="en-US"/>
              <a:t>个产品共</a:t>
            </a:r>
            <a:r>
              <a:rPr lang="en-US" altLang="zh-CN"/>
              <a:t>484</a:t>
            </a:r>
            <a:r>
              <a:rPr lang="zh-CN" altLang="en-US"/>
              <a:t>个</a:t>
            </a:r>
            <a:r>
              <a:rPr lang="zh-CN" altLang="en-US"/>
              <a:t>仓库已上库知识库</a:t>
            </a:r>
            <a:r>
              <a:rPr lang="en-US" altLang="zh-CN"/>
              <a:t>71%</a:t>
            </a:r>
            <a:r>
              <a:rPr lang="zh-CN" altLang="en-US"/>
              <a:t>。</a:t>
            </a:r>
            <a:endParaRPr lang="zh-CN" altLang="en-US"/>
          </a:p>
          <a:p>
            <a:pPr algn="ctr"/>
            <a:r>
              <a:rPr lang="zh-CN" altLang="en-US"/>
              <a:t>年前</a:t>
            </a:r>
            <a:r>
              <a:rPr lang="en-US" altLang="zh-CN"/>
              <a:t>100%</a:t>
            </a:r>
            <a:r>
              <a:rPr lang="zh-CN" altLang="en-US"/>
              <a:t>完成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990" y="114300"/>
            <a:ext cx="2929255" cy="590105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108825" y="6193790"/>
            <a:ext cx="478726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完成内部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个开发规范规范积累，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。基本覆盖主场景。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5" y="264795"/>
            <a:ext cx="2466975" cy="5600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4910" y="2093595"/>
            <a:ext cx="5803900" cy="2999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知识库使用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04530" y="1194435"/>
            <a:ext cx="172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改</a:t>
            </a:r>
            <a:r>
              <a:rPr lang="en-US" altLang="zh-CN"/>
              <a:t>TD</a:t>
            </a:r>
            <a:r>
              <a:rPr lang="zh-CN" altLang="en-US"/>
              <a:t>场景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24050" y="1029335"/>
            <a:ext cx="172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知识咨询</a:t>
            </a:r>
            <a:r>
              <a:rPr lang="zh-CN" altLang="en-US"/>
              <a:t>场景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" y="1562735"/>
            <a:ext cx="5792470" cy="45396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知识库使用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91525" y="1029335"/>
            <a:ext cx="172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内部</a:t>
            </a:r>
            <a:r>
              <a:rPr lang="zh-CN" altLang="en-US"/>
              <a:t>开发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24050" y="1029335"/>
            <a:ext cx="172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开发</a:t>
            </a:r>
            <a:r>
              <a:rPr lang="zh-CN" altLang="en-US"/>
              <a:t>场景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1931670"/>
            <a:ext cx="6000750" cy="36480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05255" y="5739765"/>
            <a:ext cx="3314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已作为公司的知识库构建</a:t>
            </a:r>
            <a:r>
              <a:rPr lang="zh-CN" altLang="en-US"/>
              <a:t>方案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740" y="2901315"/>
            <a:ext cx="5229225" cy="12287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 bwMode="auto">
          <a:xfrm>
            <a:off x="127000" y="114300"/>
            <a:ext cx="3690620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知识完整</a:t>
            </a:r>
            <a:r>
              <a:rPr lang="zh-CN" altLang="en-US" sz="2600" b="1" dirty="0">
                <a:solidFill>
                  <a:srgbClr val="006C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路径</a:t>
            </a:r>
            <a:endParaRPr lang="zh-CN" altLang="en-US" sz="2600" b="1" dirty="0">
              <a:solidFill>
                <a:srgbClr val="006C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57605" y="744855"/>
            <a:ext cx="10006330" cy="4883072"/>
            <a:chOff x="10995" y="56"/>
            <a:chExt cx="41844" cy="22963"/>
          </a:xfrm>
        </p:grpSpPr>
        <p:sp>
          <p:nvSpPr>
            <p:cNvPr id="2" name="圆角矩形 1"/>
            <p:cNvSpPr/>
            <p:nvPr/>
          </p:nvSpPr>
          <p:spPr>
            <a:xfrm>
              <a:off x="19154" y="14968"/>
              <a:ext cx="8731" cy="3289"/>
            </a:xfrm>
            <a:prstGeom prst="roundRect">
              <a:avLst/>
            </a:prstGeom>
            <a:solidFill>
              <a:srgbClr val="386AB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仓库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A/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A+</a:t>
              </a:r>
              <a:b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公共库知识库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32201" y="14795"/>
              <a:ext cx="8731" cy="3289"/>
            </a:xfrm>
            <a:prstGeom prst="roundRect">
              <a:avLst/>
            </a:prstGeom>
            <a:solidFill>
              <a:srgbClr val="386AB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仓库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B/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+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知识库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43428" y="14854"/>
              <a:ext cx="8731" cy="3289"/>
            </a:xfrm>
            <a:prstGeom prst="roundRect">
              <a:avLst/>
            </a:prstGeom>
            <a:solidFill>
              <a:srgbClr val="386AB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仓库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C/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+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知识库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0067" y="19957"/>
              <a:ext cx="6804" cy="2268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中大需求的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SOP</a:t>
              </a:r>
              <a:b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spec-developer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3335" y="20070"/>
              <a:ext cx="6804" cy="2268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小需求的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SOP</a:t>
              </a:r>
              <a:b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/vibe-engineer 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44335" y="20183"/>
              <a:ext cx="6804" cy="2268"/>
            </a:xfrm>
            <a:prstGeom prst="roundRect">
              <a:avLst/>
            </a:prstGeom>
            <a:solidFill>
              <a:srgbClr val="386AB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需求的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SOP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8263" y="56"/>
              <a:ext cx="11988" cy="2475"/>
            </a:xfrm>
            <a:prstGeom prst="roundRect">
              <a:avLst/>
            </a:prstGeom>
            <a:solidFill>
              <a:srgbClr val="386AB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产品需求</a:t>
              </a: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多仓库需求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0995" y="4761"/>
              <a:ext cx="7597" cy="3103"/>
            </a:xfrm>
            <a:prstGeom prst="roundRect">
              <a:avLst/>
            </a:prstGeom>
            <a:solidFill>
              <a:srgbClr val="386AB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产品知识库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只强制引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产品知识索引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24160" y="2606"/>
              <a:ext cx="0" cy="2495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1" idx="3"/>
              <a:endCxn id="27" idx="1"/>
            </p:cNvCxnSpPr>
            <p:nvPr/>
          </p:nvCxnSpPr>
          <p:spPr>
            <a:xfrm flipV="1">
              <a:off x="18592" y="6293"/>
              <a:ext cx="3073" cy="20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31" idx="2"/>
              <a:endCxn id="2" idx="0"/>
            </p:cNvCxnSpPr>
            <p:nvPr/>
          </p:nvCxnSpPr>
          <p:spPr>
            <a:xfrm flipH="1">
              <a:off x="23520" y="10318"/>
              <a:ext cx="13047" cy="4650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31" idx="2"/>
              <a:endCxn id="3" idx="0"/>
            </p:cNvCxnSpPr>
            <p:nvPr/>
          </p:nvCxnSpPr>
          <p:spPr>
            <a:xfrm>
              <a:off x="36567" y="10318"/>
              <a:ext cx="0" cy="4477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31" idx="2"/>
            </p:cNvCxnSpPr>
            <p:nvPr/>
          </p:nvCxnSpPr>
          <p:spPr>
            <a:xfrm>
              <a:off x="36567" y="10318"/>
              <a:ext cx="10829" cy="4309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23464" y="18257"/>
              <a:ext cx="56" cy="1700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36624" y="18196"/>
              <a:ext cx="56" cy="1700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9" idx="0"/>
            </p:cNvCxnSpPr>
            <p:nvPr/>
          </p:nvCxnSpPr>
          <p:spPr>
            <a:xfrm flipH="1">
              <a:off x="47737" y="18256"/>
              <a:ext cx="56" cy="1927"/>
            </a:xfrm>
            <a:prstGeom prst="straightConnector1">
              <a:avLst/>
            </a:prstGeom>
            <a:solidFill>
              <a:srgbClr val="386ABD"/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圆角矩形 26"/>
            <p:cNvSpPr/>
            <p:nvPr/>
          </p:nvSpPr>
          <p:spPr>
            <a:xfrm>
              <a:off x="21665" y="5102"/>
              <a:ext cx="5103" cy="2381"/>
            </a:xfrm>
            <a:prstGeom prst="roundRect">
              <a:avLst/>
            </a:prstGeom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用户需求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27785" y="5102"/>
              <a:ext cx="5103" cy="2381"/>
            </a:xfrm>
            <a:prstGeom prst="roundRect">
              <a:avLst/>
            </a:prstGeom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系统需求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3909" y="5103"/>
              <a:ext cx="5103" cy="2381"/>
            </a:xfrm>
            <a:prstGeom prst="roundRect">
              <a:avLst/>
            </a:prstGeom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设计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34015" y="7937"/>
              <a:ext cx="5103" cy="2381"/>
            </a:xfrm>
            <a:prstGeom prst="roundRect">
              <a:avLst/>
            </a:prstGeom>
            <a:gradFill>
              <a:gsLst>
                <a:gs pos="50000">
                  <a:schemeClr val="accent6"/>
                </a:gs>
                <a:gs pos="0">
                  <a:schemeClr val="accent6">
                    <a:lumMod val="25000"/>
                    <a:lumOff val="75000"/>
                  </a:schemeClr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设计拆分成仓库任务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26768" y="6293"/>
              <a:ext cx="1017" cy="0"/>
            </a:xfrm>
            <a:prstGeom prst="straightConnector1">
              <a:avLst/>
            </a:prstGeom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1"/>
            </a:gra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32881" y="6406"/>
              <a:ext cx="1017" cy="0"/>
            </a:xfrm>
            <a:prstGeom prst="straightConnector1">
              <a:avLst/>
            </a:prstGeom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1"/>
            </a:gra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endCxn id="31" idx="0"/>
            </p:cNvCxnSpPr>
            <p:nvPr/>
          </p:nvCxnSpPr>
          <p:spPr>
            <a:xfrm flipH="1">
              <a:off x="36567" y="7483"/>
              <a:ext cx="56" cy="454"/>
            </a:xfrm>
            <a:prstGeom prst="straightConnector1">
              <a:avLst/>
            </a:prstGeom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1"/>
            </a:gradFill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18140" y="13720"/>
              <a:ext cx="34699" cy="9299"/>
            </a:xfrm>
            <a:prstGeom prst="rect">
              <a:avLst/>
            </a:prstGeom>
            <a:noFill/>
            <a:ln w="12700" cmpd="sng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0408" y="4648"/>
              <a:ext cx="20957" cy="5938"/>
            </a:xfrm>
            <a:prstGeom prst="rect">
              <a:avLst/>
            </a:prstGeom>
            <a:noFill/>
            <a:ln w="12700" cmpd="sng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1407" y="19050"/>
              <a:ext cx="2538" cy="303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zh-CN" altLang="en-US" sz="3600"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①</a:t>
              </a:r>
              <a:endParaRPr lang="zh-CN" altLang="en-US" sz="360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1294" y="7947"/>
              <a:ext cx="2538" cy="303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zh-CN" altLang="en-US" sz="3600"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②</a:t>
              </a:r>
              <a:endParaRPr lang="zh-CN" altLang="en-US" sz="360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4582" y="12473"/>
              <a:ext cx="5639" cy="1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人天级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35830" y="1473"/>
              <a:ext cx="4649" cy="1927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</a:rPr>
                <a:t>API-swagger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4" name="直接箭头连接符 43"/>
            <p:cNvCxnSpPr>
              <a:endCxn id="43" idx="2"/>
            </p:cNvCxnSpPr>
            <p:nvPr/>
          </p:nvCxnSpPr>
          <p:spPr>
            <a:xfrm flipV="1">
              <a:off x="36631" y="3400"/>
              <a:ext cx="1524" cy="1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圆角矩形 45"/>
            <p:cNvSpPr/>
            <p:nvPr/>
          </p:nvSpPr>
          <p:spPr>
            <a:xfrm>
              <a:off x="42294" y="7824"/>
              <a:ext cx="5103" cy="238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单仓库需求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\TD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47" name="直接箭头连接符 46"/>
            <p:cNvCxnSpPr/>
            <p:nvPr/>
          </p:nvCxnSpPr>
          <p:spPr>
            <a:xfrm flipH="1">
              <a:off x="23696" y="10205"/>
              <a:ext cx="21150" cy="487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H="1">
              <a:off x="36850" y="10318"/>
              <a:ext cx="8052" cy="43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45129" y="10318"/>
              <a:ext cx="2494" cy="43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圆角矩形 11"/>
            <p:cNvSpPr/>
            <p:nvPr/>
          </p:nvSpPr>
          <p:spPr>
            <a:xfrm>
              <a:off x="14511" y="8390"/>
              <a:ext cx="5103" cy="238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创新应用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17233" y="10772"/>
              <a:ext cx="6464" cy="41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2703195" y="6205220"/>
            <a:ext cx="7235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目前基于产品知识库拆分设计文档到仓库需求</a:t>
            </a:r>
            <a:endParaRPr lang="zh-CN" altLang="en-US"/>
          </a:p>
          <a:p>
            <a:r>
              <a:rPr lang="zh-CN" altLang="en-US"/>
              <a:t>基于仓库需求</a:t>
            </a:r>
            <a:r>
              <a:rPr lang="en-US" altLang="zh-CN"/>
              <a:t>+</a:t>
            </a:r>
            <a:r>
              <a:rPr lang="zh-CN" altLang="en-US"/>
              <a:t>知识库跑</a:t>
            </a:r>
            <a:r>
              <a:rPr lang="en-US" altLang="zh-CN"/>
              <a:t>AI</a:t>
            </a:r>
            <a:r>
              <a:rPr lang="zh-CN" altLang="en-US"/>
              <a:t>黑灯模式的完成度在</a:t>
            </a:r>
            <a:r>
              <a:rPr lang="en-US" altLang="zh-CN"/>
              <a:t>60-70</a:t>
            </a:r>
            <a:r>
              <a:rPr lang="zh-CN" altLang="en-US"/>
              <a:t>分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]}"/>
</p:tagLst>
</file>

<file path=ppt/tags/tag64.xml><?xml version="1.0" encoding="utf-8"?>
<p:tagLst xmlns:p="http://schemas.openxmlformats.org/presentationml/2006/main">
  <p:tag name="KSO_WM_DIAGRAM_VIRTUALLY_FRAME" val="{&quot;height&quot;:475.75,&quot;left&quot;:-9,&quot;top&quot;:0,&quot;width&quot;:978}"/>
</p:tagLst>
</file>

<file path=ppt/tags/tag65.xml><?xml version="1.0" encoding="utf-8"?>
<p:tagLst xmlns:p="http://schemas.openxmlformats.org/presentationml/2006/main">
  <p:tag name="KSO_WM_DIAGRAM_VIRTUALLY_FRAME" val="{&quot;height&quot;:475.75,&quot;left&quot;:-9,&quot;top&quot;:0,&quot;width&quot;:978}"/>
</p:tagLst>
</file>

<file path=ppt/tags/tag66.xml><?xml version="1.0" encoding="utf-8"?>
<p:tagLst xmlns:p="http://schemas.openxmlformats.org/presentationml/2006/main">
  <p:tag name="KSO_WM_DIAGRAM_VIRTUALLY_FRAME" val="{&quot;height&quot;:475.75,&quot;left&quot;:-9,&quot;top&quot;:0,&quot;width&quot;:978}"/>
</p:tagLst>
</file>

<file path=ppt/tags/tag67.xml><?xml version="1.0" encoding="utf-8"?>
<p:tagLst xmlns:p="http://schemas.openxmlformats.org/presentationml/2006/main">
  <p:tag name="KSO_WM_DIAGRAM_VIRTUALLY_FRAME" val="{&quot;height&quot;:475.75,&quot;left&quot;:-9,&quot;top&quot;:0,&quot;width&quot;:978}"/>
</p:tagLst>
</file>

<file path=ppt/tags/tag68.xml><?xml version="1.0" encoding="utf-8"?>
<p:tagLst xmlns:p="http://schemas.openxmlformats.org/presentationml/2006/main">
  <p:tag name="KSO_WM_DIAGRAM_VIRTUALLY_FRAME" val="{&quot;height&quot;:475.75,&quot;left&quot;:-9,&quot;top&quot;:0,&quot;width&quot;:978}"/>
</p:tagLst>
</file>

<file path=ppt/tags/tag69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71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72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73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74.xml><?xml version="1.0" encoding="utf-8"?>
<p:tagLst xmlns:p="http://schemas.openxmlformats.org/presentationml/2006/main">
  <p:tag name="TABLE_ENDDRAG_ORIGIN_RECT" val="397*373"/>
  <p:tag name="TABLE_ENDDRAG_RECT" val="544*94*397*373"/>
</p:tagLst>
</file>

<file path=ppt/tags/tag75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76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i*1_1_3"/>
  <p:tag name="KSO_WM_TEMPLATE_CATEGORY" val="diagram"/>
  <p:tag name="KSO_WM_TEMPLATE_INDEX" val="202309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UNIT_INDEX" val="1_1_3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1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1_3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2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2_3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3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3_3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4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4_3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2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2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2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3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3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3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a*1_1_1"/>
  <p:tag name="KSO_WM_TEMPLATE_CATEGORY" val="diagram"/>
  <p:tag name="KSO_WM_TEMPLATE_INDEX" val="202309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0"/>
  <p:tag name="KSO_WM_UNIT_TYPE" val="n_h_a"/>
  <p:tag name="KSO_WM_UNIT_INDEX" val="1_1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&#10;项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0961_4*n_h_h_f*1_2_2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0961_4*n_h_h_f*1_2_3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5_1"/>
  <p:tag name="KSO_WM_UNIT_ID" val="diagram20230961_4*n_h_h_f*1_2_5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0961_4*n_h_h_f*1_2_4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4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4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4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1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1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1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5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5_3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5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5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i*1_2_5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x*1_2_1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79"/>
  <p:tag name="KSO_WM_UNIT_TYPE" val="n_h_h_x"/>
  <p:tag name="KSO_WM_UNIT_INDEX" val="1_2_1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x*1_2_5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85"/>
  <p:tag name="KSO_WM_UNIT_TYPE" val="n_h_h_x"/>
  <p:tag name="KSO_WM_UNIT_INDEX" val="1_2_5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x*1_2_4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85"/>
  <p:tag name="KSO_WM_UNIT_TYPE" val="n_h_h_x"/>
  <p:tag name="KSO_WM_UNIT_INDEX" val="1_2_4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x*1_2_3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72"/>
  <p:tag name="KSO_WM_UNIT_TYPE" val="n_h_h_x"/>
  <p:tag name="KSO_WM_UNIT_INDEX" val="1_2_3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4*n_h_h_x*1_2_2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72"/>
  <p:tag name="KSO_WM_UNIT_TYPE" val="n_h_h_x"/>
  <p:tag name="KSO_WM_UNIT_INDEX" val="1_2_2_1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10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0961_4*n_h_h_f*1_2_1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35.9932619040941,&quot;left&quot;:-4.95,&quot;top&quot;:52.7,&quot;width&quot;:908.5120372576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4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,3312563]}"/>
</p:tagLst>
</file>

<file path=ppt/tags/tag105.xml><?xml version="1.0" encoding="utf-8"?>
<p:tagLst xmlns:p="http://schemas.openxmlformats.org/presentationml/2006/main">
  <p:tag name="KSO_WM_SLIDE_ID" val="custom4049279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5"/>
  <p:tag name="KSO_WM_SLIDE_TYPE" val="text"/>
  <p:tag name="KSO_WM_SLIDE_SUBTYPE" val="picTxt"/>
  <p:tag name="KSO_WM_SLIDE_SIZE" val="799*423"/>
  <p:tag name="KSO_WM_SLIDE_POSITION" val="80*58"/>
  <p:tag name="KSO_WM_SLIDE_LAYOUT" val="d"/>
  <p:tag name="KSO_WM_SLIDE_LAYOUT_CNT" val="4"/>
  <p:tag name="KSO_WM_SPECIAL_SOURCE" val="bdnull"/>
  <p:tag name="resource_record_key" val="{&quot;65&quot;:[40492795],&quot;70&quot;:[3325124,3314082]}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40492795"/>
  <p:tag name="KSO_WM_SPECIAL_SOURCE" val="bdnull"/>
</p:tagLst>
</file>

<file path=ppt/tags/tag114.xml><?xml version="1.0" encoding="utf-8"?>
<p:tagLst xmlns:p="http://schemas.openxmlformats.org/presentationml/2006/main">
  <p:tag name="resource_record_key" val="{&quot;65&quot;:[40492795],&quot;70&quot;:[3331502,3312563]}"/>
  <p:tag name="commondata" val="eyJoZGlkIjoiODA5YjlhZThkMWM4ZTNjZmVhNGY0YzkxZDkzNmJhMj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3354</Words>
  <Application>WPS 演示</Application>
  <PresentationFormat>宽屏</PresentationFormat>
  <Paragraphs>441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o.O君程</cp:lastModifiedBy>
  <cp:revision>410</cp:revision>
  <dcterms:created xsi:type="dcterms:W3CDTF">2026-04-26T01:59:52Z</dcterms:created>
  <dcterms:modified xsi:type="dcterms:W3CDTF">2026-04-26T01:59:52Z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2C7EC629A73D4A0FBDA31126A0F517D5_11</vt:lpwstr>
  </property>
</Properties>
</file>